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77"/>
    <a:srgbClr val="FF4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80" d="100"/>
          <a:sy n="80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E5277A84-14BD-4BCB-A5D7-E93F0606E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="" xmlns:a16="http://schemas.microsoft.com/office/drawing/2014/main" id="{90B88CAE-B160-4139-8418-2B09696CA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173D3C08-2C90-42A7-BB4F-28BB96989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E0C0724B-39BE-4482-B995-D73EB413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BFE1074C-E3BA-478B-A306-D81287E8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68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C944E7E4-04B9-41A6-9475-790CAFF5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="" xmlns:a16="http://schemas.microsoft.com/office/drawing/2014/main" id="{7C478967-D465-44E3-86E0-CE020CF76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4676C513-499A-47C4-A47C-1F227ACC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C72C81A6-3C91-4BAF-916A-AC93381B2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272206D7-7809-45C1-90F8-6D613690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0669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8BBADD5A-3C7E-4AD3-BD9E-1907BAF4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="" xmlns:a16="http://schemas.microsoft.com/office/drawing/2014/main" id="{5D804613-899B-48FA-BAC2-5A01EDF56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29647446-D773-41A1-A1ED-CB896D0A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E8C30A5E-9E31-4A8A-A410-30F7ACD2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C3053553-29BD-482A-8D37-CB260BD2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62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F30A224E-5BE1-470B-83F7-FD92BB12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="" xmlns:a16="http://schemas.microsoft.com/office/drawing/2014/main" id="{8D0A6E26-7E7A-4D58-8BEE-FE180DDE6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="" xmlns:a16="http://schemas.microsoft.com/office/drawing/2014/main" id="{AE51C21B-D81C-4626-BF59-E922A58E6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="" xmlns:a16="http://schemas.microsoft.com/office/drawing/2014/main" id="{DFB85250-A53F-42FA-91CE-19E21EE65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="" xmlns:a16="http://schemas.microsoft.com/office/drawing/2014/main" id="{DB0244C1-89FA-42FD-A8DE-24AEA060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="" xmlns:a16="http://schemas.microsoft.com/office/drawing/2014/main" id="{26706A14-D1FE-4D2F-AFC4-5494758C1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252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8D9E657B-749C-41D1-B8F5-E85B3D91E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="" xmlns:a16="http://schemas.microsoft.com/office/drawing/2014/main" id="{9D69B20A-EFF6-4D0A-8701-DAB74FF3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="" xmlns:a16="http://schemas.microsoft.com/office/drawing/2014/main" id="{359D860A-DE73-4371-BA84-28E94CD94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="" xmlns:a16="http://schemas.microsoft.com/office/drawing/2014/main" id="{25C6FB0B-F341-4BDE-96C8-984B85EA7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="" xmlns:a16="http://schemas.microsoft.com/office/drawing/2014/main" id="{ECB6A8E8-C6DD-4221-B4A4-8BDCC64D0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="" xmlns:a16="http://schemas.microsoft.com/office/drawing/2014/main" id="{0EF98A18-70A1-4F49-A55C-06A8B3E5F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="" xmlns:a16="http://schemas.microsoft.com/office/drawing/2014/main" id="{A65D3589-A8B1-4BAF-8369-2C899B93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="" xmlns:a16="http://schemas.microsoft.com/office/drawing/2014/main" id="{D2071EA0-E47F-4B71-B52B-E9301685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320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931E8152-C3DD-4ABA-B96F-23F4AB95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="" xmlns:a16="http://schemas.microsoft.com/office/drawing/2014/main" id="{CDE39094-C864-4EA8-8D42-3F88B519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="" xmlns:a16="http://schemas.microsoft.com/office/drawing/2014/main" id="{7B679E94-F78E-4D4B-9215-909B2FB6C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="" xmlns:a16="http://schemas.microsoft.com/office/drawing/2014/main" id="{43B7BECD-9CCB-4E4E-B059-CA813EA5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467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="" xmlns:a16="http://schemas.microsoft.com/office/drawing/2014/main" id="{A8125F8E-261E-4271-9FB0-365EAA82D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="" xmlns:a16="http://schemas.microsoft.com/office/drawing/2014/main" id="{30E5EBEF-92A0-47EA-9792-B2FF1B96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="" xmlns:a16="http://schemas.microsoft.com/office/drawing/2014/main" id="{350352E5-8DCE-4FA0-B51E-99BDA283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98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D66270E6-1FF1-47C3-A9BC-B2871DBF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="" xmlns:a16="http://schemas.microsoft.com/office/drawing/2014/main" id="{D46587EA-F530-48D8-ACF1-621F59AA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="" xmlns:a16="http://schemas.microsoft.com/office/drawing/2014/main" id="{052750D8-777E-4094-B779-A3AE24AE9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="" xmlns:a16="http://schemas.microsoft.com/office/drawing/2014/main" id="{15C12D64-1B70-40CE-99EC-A5CB4C9DF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="" xmlns:a16="http://schemas.microsoft.com/office/drawing/2014/main" id="{C266213F-201A-4296-811A-C35AFA4E1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="" xmlns:a16="http://schemas.microsoft.com/office/drawing/2014/main" id="{9F1021B8-CD3F-43F2-A4B2-B3494015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99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48844C2A-E7FD-40D9-9ABC-679B2D1E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="" xmlns:a16="http://schemas.microsoft.com/office/drawing/2014/main" id="{83B5DD5A-B7B9-4C5A-9CD6-FB8A26A82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="" xmlns:a16="http://schemas.microsoft.com/office/drawing/2014/main" id="{2A3C51D9-2265-419C-8C2A-CB45E776F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="" xmlns:a16="http://schemas.microsoft.com/office/drawing/2014/main" id="{4C43E8A0-4EC7-4CF2-879F-52937AD55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="" xmlns:a16="http://schemas.microsoft.com/office/drawing/2014/main" id="{947A078C-0D2C-4AF1-A04A-EB6CEDC24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="" xmlns:a16="http://schemas.microsoft.com/office/drawing/2014/main" id="{38D9D149-4465-48BB-8F23-018C75A1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10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67357490-4C61-4ADC-8DEF-EBE8E8CB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="" xmlns:a16="http://schemas.microsoft.com/office/drawing/2014/main" id="{E6C61A4D-2345-4CBC-BCB3-2B47F1309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8F39EC2A-80D1-4C74-8A25-4DFFA4D9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3DAF6AFC-36B1-4EF5-A20F-C27EDC5D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D360E42F-979C-4FC1-B526-CA1C4A9A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0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="" xmlns:a16="http://schemas.microsoft.com/office/drawing/2014/main" id="{A8D03AD8-15BA-4AA9-80F1-2ACABA880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="" xmlns:a16="http://schemas.microsoft.com/office/drawing/2014/main" id="{49B196AD-2C30-43E6-8E80-F0145651D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4D0F0ED8-A5D8-4F54-B65C-CEB95D5D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89B44441-4ADE-443F-BF44-29243FE2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ADB87353-6876-42FD-9A9B-529954694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64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="" xmlns:a16="http://schemas.microsoft.com/office/drawing/2014/main" id="{7D98B676-8C84-43A6-B20B-0F3A7477D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="" xmlns:a16="http://schemas.microsoft.com/office/drawing/2014/main" id="{42ECB937-6201-4D6B-8079-C7A14F72F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4359F55D-5899-4E38-82AB-3F5B5175B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45119-2C85-4987-BB91-0881890FD36B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B1C445CA-D059-4195-B2DC-473986B16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3A431FDA-D7E9-43B1-BAD1-A9732FAEC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D87F7-25F1-4D4A-9725-2FBF6816F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8890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hidden="1">
            <a:extLst>
              <a:ext uri="{FF2B5EF4-FFF2-40B4-BE49-F238E27FC236}">
                <a16:creationId xmlns="" xmlns:a16="http://schemas.microsoft.com/office/drawing/2014/main" id="{08736DFA-F662-44FB-B6C9-4A35A5ED2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="" xmlns:a16="http://schemas.microsoft.com/office/drawing/2014/main" id="{AC1841D5-D77A-41C4-8C8E-BA7E05DBEC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02656E45-BA9A-4DE2-9386-18730E88A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="" xmlns:a16="http://schemas.microsoft.com/office/drawing/2014/main" id="{72EDA480-162B-4994-8C4A-1AB05D91D3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="" xmlns:a16="http://schemas.microsoft.com/office/drawing/2014/main" id="{FD424691-1BEF-4096-8AB1-F20EB3AAB882}"/>
              </a:ext>
            </a:extLst>
          </p:cNvPr>
          <p:cNvSpPr/>
          <p:nvPr/>
        </p:nvSpPr>
        <p:spPr>
          <a:xfrm>
            <a:off x="748018" y="476513"/>
            <a:ext cx="10695962" cy="6065021"/>
          </a:xfrm>
          <a:prstGeom prst="roundRect">
            <a:avLst>
              <a:gd name="adj" fmla="val 8917"/>
            </a:avLst>
          </a:prstGeom>
          <a:solidFill>
            <a:schemeClr val="bg1"/>
          </a:solidFill>
          <a:ln w="142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1363400" y="4079481"/>
            <a:ext cx="9805480" cy="1086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kumimoji="1"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　　</a:t>
            </a:r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色</a:t>
            </a:r>
            <a:r>
              <a:rPr kumimoji="1" lang="ja-JP" altLang="en-US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のところにサーモンが来たら</a:t>
            </a:r>
            <a:r>
              <a:rPr lang="ja-JP" altLang="en-US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スペースキーを</a:t>
            </a:r>
            <a:r>
              <a:rPr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押してお金が尽きるまでサーモンを食べよう。金でないサーモン</a:t>
            </a:r>
            <a:r>
              <a:rPr lang="ja-JP" altLang="en-US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を見逃したりほかの</a:t>
            </a:r>
            <a:r>
              <a:rPr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寿司や他の人の注文したものを取ったらゲーム終了。（</a:t>
            </a:r>
            <a:r>
              <a:rPr lang="en-US" altLang="ja-JP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1</a:t>
            </a:r>
            <a:r>
              <a:rPr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皿以上食べるとクリアになります）</a:t>
            </a:r>
            <a:endParaRPr kumimoji="1" lang="ja-JP" altLang="en-US" sz="20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="" xmlns:a16="http://schemas.microsoft.com/office/drawing/2014/main" id="{10EAA2FE-767D-4364-AC28-0245370118A8}"/>
              </a:ext>
            </a:extLst>
          </p:cNvPr>
          <p:cNvSpPr>
            <a:spLocks noChangeAspect="1"/>
          </p:cNvSpPr>
          <p:nvPr/>
        </p:nvSpPr>
        <p:spPr>
          <a:xfrm>
            <a:off x="1474531" y="4049137"/>
            <a:ext cx="391794" cy="392560"/>
          </a:xfrm>
          <a:prstGeom prst="rect">
            <a:avLst/>
          </a:prstGeom>
          <a:solidFill>
            <a:srgbClr val="FFDD77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="" xmlns:a16="http://schemas.microsoft.com/office/drawing/2014/main" id="{D0657C96-B156-4740-8E50-B99433863F93}"/>
              </a:ext>
            </a:extLst>
          </p:cNvPr>
          <p:cNvSpPr txBox="1"/>
          <p:nvPr/>
        </p:nvSpPr>
        <p:spPr>
          <a:xfrm>
            <a:off x="1790690" y="5707701"/>
            <a:ext cx="895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スペースキー</a:t>
            </a:r>
            <a:r>
              <a:rPr kumimoji="1" lang="en-US" altLang="ja-JP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r>
              <a:rPr kumimoji="1" lang="ja-JP" altLang="en-US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寿司を</a:t>
            </a:r>
            <a:r>
              <a:rPr kumimoji="1"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取る</a:t>
            </a:r>
            <a:r>
              <a:rPr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　</a:t>
            </a:r>
            <a:r>
              <a:rPr lang="en-US" altLang="ja-JP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R</a:t>
            </a:r>
            <a:r>
              <a:rPr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キー</a:t>
            </a:r>
            <a:r>
              <a:rPr lang="en-US" altLang="ja-JP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r>
              <a:rPr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戻る</a:t>
            </a:r>
            <a:endParaRPr kumimoji="1" lang="ja-JP" altLang="en-US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28" t="62745" r="36140" b="14509"/>
          <a:stretch/>
        </p:blipFill>
        <p:spPr>
          <a:xfrm>
            <a:off x="2162735" y="1708746"/>
            <a:ext cx="1262057" cy="59511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17" t="62745" r="36801" b="15098"/>
          <a:stretch/>
        </p:blipFill>
        <p:spPr>
          <a:xfrm>
            <a:off x="6026792" y="1542392"/>
            <a:ext cx="1236406" cy="579725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17" t="63529" r="36912" b="15294"/>
          <a:stretch/>
        </p:blipFill>
        <p:spPr>
          <a:xfrm>
            <a:off x="2041314" y="3048894"/>
            <a:ext cx="1231275" cy="554074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5" t="59558" r="36591" b="15541"/>
          <a:stretch/>
        </p:blipFill>
        <p:spPr>
          <a:xfrm>
            <a:off x="4988691" y="2993948"/>
            <a:ext cx="1277449" cy="651550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52" t="56863" r="36495" b="15490"/>
          <a:stretch/>
        </p:blipFill>
        <p:spPr>
          <a:xfrm>
            <a:off x="3466348" y="2971789"/>
            <a:ext cx="1272318" cy="723374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="" xmlns:a16="http://schemas.microsoft.com/office/drawing/2014/main" id="{D0657C96-B156-4740-8E50-B99433863F93}"/>
              </a:ext>
            </a:extLst>
          </p:cNvPr>
          <p:cNvSpPr txBox="1"/>
          <p:nvPr/>
        </p:nvSpPr>
        <p:spPr>
          <a:xfrm>
            <a:off x="1912643" y="1071902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逃してはいけない寿司の例</a:t>
            </a:r>
            <a:endParaRPr kumimoji="1" lang="ja-JP" altLang="en-US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="" xmlns:a16="http://schemas.microsoft.com/office/drawing/2014/main" id="{D0657C96-B156-4740-8E50-B99433863F93}"/>
              </a:ext>
            </a:extLst>
          </p:cNvPr>
          <p:cNvSpPr txBox="1"/>
          <p:nvPr/>
        </p:nvSpPr>
        <p:spPr>
          <a:xfrm>
            <a:off x="1912643" y="263283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取</a:t>
            </a:r>
            <a:r>
              <a:rPr kumimoji="1"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ってはいけない寿司の例</a:t>
            </a:r>
            <a:endParaRPr kumimoji="1" lang="ja-JP" altLang="en-US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="" xmlns:a16="http://schemas.microsoft.com/office/drawing/2014/main" id="{D0657C96-B156-4740-8E50-B99433863F93}"/>
              </a:ext>
            </a:extLst>
          </p:cNvPr>
          <p:cNvSpPr txBox="1"/>
          <p:nvPr/>
        </p:nvSpPr>
        <p:spPr>
          <a:xfrm>
            <a:off x="5787075" y="112632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取って</a:t>
            </a:r>
            <a:r>
              <a:rPr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も取らなくてもいい</a:t>
            </a:r>
            <a:r>
              <a:rPr kumimoji="1"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寿司</a:t>
            </a:r>
            <a:endParaRPr kumimoji="1" lang="ja-JP" altLang="en-US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="" xmlns:a16="http://schemas.microsoft.com/office/drawing/2014/main" id="{D0657C96-B156-4740-8E50-B99433863F93}"/>
              </a:ext>
            </a:extLst>
          </p:cNvPr>
          <p:cNvSpPr txBox="1"/>
          <p:nvPr/>
        </p:nvSpPr>
        <p:spPr>
          <a:xfrm>
            <a:off x="3490604" y="1749819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実質</a:t>
            </a:r>
            <a:r>
              <a:rPr kumimoji="1"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￥</a:t>
            </a:r>
            <a:r>
              <a:rPr kumimoji="1" lang="en-US" altLang="ja-JP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0</a:t>
            </a:r>
            <a:endParaRPr kumimoji="1" lang="ja-JP" altLang="en-US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="" xmlns:a16="http://schemas.microsoft.com/office/drawing/2014/main" id="{D0657C96-B156-4740-8E50-B99433863F93}"/>
              </a:ext>
            </a:extLst>
          </p:cNvPr>
          <p:cNvSpPr txBox="1"/>
          <p:nvPr/>
        </p:nvSpPr>
        <p:spPr>
          <a:xfrm>
            <a:off x="7380579" y="1672548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￥ </a:t>
            </a:r>
            <a:r>
              <a:rPr lang="en-US" altLang="ja-JP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1000000</a:t>
            </a:r>
            <a:endParaRPr lang="ja-JP" altLang="en-US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="" xmlns:a16="http://schemas.microsoft.com/office/drawing/2014/main" id="{D0657C96-B156-4740-8E50-B99433863F93}"/>
              </a:ext>
            </a:extLst>
          </p:cNvPr>
          <p:cNvSpPr txBox="1"/>
          <p:nvPr/>
        </p:nvSpPr>
        <p:spPr>
          <a:xfrm>
            <a:off x="6387533" y="3163997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￥ </a:t>
            </a:r>
            <a:r>
              <a:rPr kumimoji="1" lang="en-US" altLang="ja-JP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9999999</a:t>
            </a:r>
            <a:endParaRPr kumimoji="1" lang="ja-JP" altLang="en-US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1440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hidden="1">
            <a:extLst>
              <a:ext uri="{FF2B5EF4-FFF2-40B4-BE49-F238E27FC236}">
                <a16:creationId xmlns="" xmlns:a16="http://schemas.microsoft.com/office/drawing/2014/main" id="{08736DFA-F662-44FB-B6C9-4A35A5ED2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="" xmlns:a16="http://schemas.microsoft.com/office/drawing/2014/main" id="{AC1841D5-D77A-41C4-8C8E-BA7E05DBEC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02656E45-BA9A-4DE2-9386-18730E88A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="" xmlns:a16="http://schemas.microsoft.com/office/drawing/2014/main" id="{72EDA480-162B-4994-8C4A-1AB05D91D3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="" xmlns:a16="http://schemas.microsoft.com/office/drawing/2014/main" id="{FD424691-1BEF-4096-8AB1-F20EB3AAB882}"/>
              </a:ext>
            </a:extLst>
          </p:cNvPr>
          <p:cNvSpPr/>
          <p:nvPr/>
        </p:nvSpPr>
        <p:spPr>
          <a:xfrm>
            <a:off x="748018" y="476513"/>
            <a:ext cx="10695962" cy="6065021"/>
          </a:xfrm>
          <a:prstGeom prst="roundRect">
            <a:avLst>
              <a:gd name="adj" fmla="val 8917"/>
            </a:avLst>
          </a:prstGeom>
          <a:solidFill>
            <a:schemeClr val="bg1"/>
          </a:solidFill>
          <a:ln w="142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1287389" y="1286289"/>
            <a:ext cx="98054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スペースキーのプッシュとマウスのクリックを交互に行って窓を拭こう</a:t>
            </a:r>
            <a:r>
              <a:rPr kumimoji="1" lang="ja-JP" altLang="en-US" sz="28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。押して</a:t>
            </a:r>
            <a:r>
              <a:rPr kumimoji="1" lang="ja-JP" altLang="en-US" sz="28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も雑巾が動かなくなったらきれいになった証拠</a:t>
            </a:r>
            <a:r>
              <a:rPr kumimoji="1" lang="ja-JP" altLang="en-US" sz="28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。最後にクリアタイムが表示されるぞ。</a:t>
            </a:r>
            <a:endParaRPr kumimoji="1" lang="ja-JP" altLang="en-US" sz="28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524000" y="5349875"/>
            <a:ext cx="73853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R</a:t>
            </a:r>
            <a:r>
              <a:rPr lang="ja-JP" altLang="en-US" sz="24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キー</a:t>
            </a:r>
            <a:r>
              <a:rPr lang="en-US" altLang="ja-JP" sz="24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r>
              <a:rPr lang="ja-JP" altLang="en-US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戻る　  スペースキー・クリック</a:t>
            </a:r>
            <a:r>
              <a:rPr lang="en-US" altLang="ja-JP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r>
              <a:rPr lang="ja-JP" altLang="en-US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窓を拭く</a:t>
            </a:r>
            <a:endParaRPr lang="ja-JP" altLang="en-US" sz="24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8865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hidden="1">
            <a:extLst>
              <a:ext uri="{FF2B5EF4-FFF2-40B4-BE49-F238E27FC236}">
                <a16:creationId xmlns="" xmlns:a16="http://schemas.microsoft.com/office/drawing/2014/main" id="{08736DFA-F662-44FB-B6C9-4A35A5ED2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="" xmlns:a16="http://schemas.microsoft.com/office/drawing/2014/main" id="{AC1841D5-D77A-41C4-8C8E-BA7E05DBEC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02656E45-BA9A-4DE2-9386-18730E88A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="" xmlns:a16="http://schemas.microsoft.com/office/drawing/2014/main" id="{72EDA480-162B-4994-8C4A-1AB05D91D3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="" xmlns:a16="http://schemas.microsoft.com/office/drawing/2014/main" id="{FD424691-1BEF-4096-8AB1-F20EB3AAB882}"/>
              </a:ext>
            </a:extLst>
          </p:cNvPr>
          <p:cNvSpPr/>
          <p:nvPr/>
        </p:nvSpPr>
        <p:spPr>
          <a:xfrm>
            <a:off x="748018" y="476513"/>
            <a:ext cx="10695962" cy="6065021"/>
          </a:xfrm>
          <a:prstGeom prst="roundRect">
            <a:avLst>
              <a:gd name="adj" fmla="val 8917"/>
            </a:avLst>
          </a:prstGeom>
          <a:solidFill>
            <a:schemeClr val="bg1"/>
          </a:solidFill>
          <a:ln w="142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1193259" y="5023250"/>
            <a:ext cx="9805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右に表示されている燃料がなくなるまで</a:t>
            </a:r>
            <a:r>
              <a:rPr kumimoji="1" lang="en-US" altLang="ja-JP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UFO</a:t>
            </a:r>
            <a:r>
              <a:rPr kumimoji="1" lang="ja-JP" altLang="en-US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を矢印キーで操作して宝石を集めよう。</a:t>
            </a:r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ただし</a:t>
            </a:r>
            <a:r>
              <a:rPr kumimoji="1" lang="en-US" altLang="ja-JP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UFO</a:t>
            </a:r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は故障しており矢印の向きには</a:t>
            </a:r>
            <a:r>
              <a:rPr kumimoji="1" lang="ja-JP" altLang="en-US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動いてくれない。</a:t>
            </a:r>
            <a:endParaRPr kumimoji="1" lang="en-US" altLang="ja-JP" sz="20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="" xmlns:a16="http://schemas.microsoft.com/office/drawing/2014/main" id="{6BC15658-D001-4689-BC13-18F3CAAD29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539" y="1270157"/>
            <a:ext cx="4698460" cy="2642884"/>
          </a:xfrm>
          <a:prstGeom prst="rect">
            <a:avLst/>
          </a:prstGeom>
          <a:ln w="63500">
            <a:solidFill>
              <a:schemeClr val="tx1"/>
            </a:solidFill>
          </a:ln>
        </p:spPr>
      </p:pic>
      <p:sp>
        <p:nvSpPr>
          <p:cNvPr id="10" name="テキスト ボックス 9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1001052" y="688497"/>
            <a:ext cx="211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取った宝石の数</a:t>
            </a:r>
            <a:endParaRPr kumimoji="1" lang="en-US" altLang="ja-JP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cxnSp>
        <p:nvCxnSpPr>
          <p:cNvPr id="6" name="直線コネクタ 5"/>
          <p:cNvCxnSpPr/>
          <p:nvPr/>
        </p:nvCxnSpPr>
        <p:spPr>
          <a:xfrm flipV="1">
            <a:off x="1519541" y="1039208"/>
            <a:ext cx="230868" cy="244330"/>
          </a:xfrm>
          <a:prstGeom prst="line">
            <a:avLst/>
          </a:prstGeom>
          <a:ln w="444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ドーナツ 19"/>
          <p:cNvSpPr>
            <a:spLocks noChangeAspect="1"/>
          </p:cNvSpPr>
          <p:nvPr/>
        </p:nvSpPr>
        <p:spPr>
          <a:xfrm>
            <a:off x="1347565" y="1270157"/>
            <a:ext cx="352870" cy="352780"/>
          </a:xfrm>
          <a:prstGeom prst="donut">
            <a:avLst>
              <a:gd name="adj" fmla="val 143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3946976" y="559385"/>
            <a:ext cx="2357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燃料メーター</a:t>
            </a:r>
            <a:endParaRPr lang="en-US" altLang="ja-JP" dirty="0" smtClean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  <a:p>
            <a:r>
              <a:rPr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なくなったら終了</a:t>
            </a:r>
            <a:endParaRPr kumimoji="1" lang="en-US" altLang="ja-JP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cxnSp>
        <p:nvCxnSpPr>
          <p:cNvPr id="24" name="直線コネクタ 23"/>
          <p:cNvCxnSpPr/>
          <p:nvPr/>
        </p:nvCxnSpPr>
        <p:spPr>
          <a:xfrm flipH="1" flipV="1">
            <a:off x="5298009" y="1154823"/>
            <a:ext cx="443658" cy="324978"/>
          </a:xfrm>
          <a:prstGeom prst="line">
            <a:avLst/>
          </a:prstGeom>
          <a:ln w="444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ドーナツ 27"/>
          <p:cNvSpPr>
            <a:spLocks noChangeAspect="1"/>
          </p:cNvSpPr>
          <p:nvPr/>
        </p:nvSpPr>
        <p:spPr>
          <a:xfrm>
            <a:off x="5071600" y="1407684"/>
            <a:ext cx="1340133" cy="2705769"/>
          </a:xfrm>
          <a:prstGeom prst="donut">
            <a:avLst>
              <a:gd name="adj" fmla="val 1355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29" name="図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52" y="841079"/>
            <a:ext cx="854535" cy="854535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978" y="1858299"/>
            <a:ext cx="899090" cy="867396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300" y="2902037"/>
            <a:ext cx="963768" cy="759442"/>
          </a:xfrm>
          <a:prstGeom prst="rect">
            <a:avLst/>
          </a:prstGeom>
        </p:spPr>
      </p:pic>
      <p:sp>
        <p:nvSpPr>
          <p:cNvPr id="32" name="テキスト ボックス 31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7487454" y="1112576"/>
            <a:ext cx="442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endParaRPr kumimoji="1" lang="en-US" altLang="ja-JP" sz="20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7863581" y="647132"/>
            <a:ext cx="31507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これを取ると</a:t>
            </a:r>
            <a:endParaRPr kumimoji="1" lang="en-US" altLang="ja-JP" sz="2000" dirty="0" smtClean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  <a:p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進む向きが変わる。</a:t>
            </a:r>
            <a:endParaRPr kumimoji="1" lang="en-US" altLang="ja-JP" sz="2000" dirty="0" smtClean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  <a:p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変わらない時もある。</a:t>
            </a:r>
            <a:endParaRPr kumimoji="1" lang="en-US" altLang="ja-JP" sz="2000" dirty="0" smtClean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  <a:p>
            <a:r>
              <a:rPr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燃料も少し減る。</a:t>
            </a:r>
            <a:endParaRPr kumimoji="1" lang="en-US" altLang="ja-JP" sz="20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7462028" y="2127992"/>
            <a:ext cx="442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endParaRPr kumimoji="1" lang="en-US" altLang="ja-JP" sz="20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7847951" y="2103725"/>
            <a:ext cx="3150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宝石。たくさん取ろう。</a:t>
            </a:r>
            <a:endParaRPr kumimoji="1" lang="en-US" altLang="ja-JP" sz="20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7458747" y="3108565"/>
            <a:ext cx="442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endParaRPr kumimoji="1" lang="en-US" altLang="ja-JP" sz="20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7867850" y="2929616"/>
            <a:ext cx="3150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燃料。</a:t>
            </a:r>
            <a:endParaRPr kumimoji="1" lang="en-US" altLang="ja-JP" sz="2000" dirty="0" smtClean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  <a:p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とると燃料が増える。</a:t>
            </a:r>
            <a:endParaRPr kumimoji="1" lang="en-US" altLang="ja-JP" sz="20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47565" y="5845484"/>
            <a:ext cx="61111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R</a:t>
            </a:r>
            <a:r>
              <a:rPr lang="ja-JP" altLang="en-US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キー</a:t>
            </a:r>
            <a:r>
              <a:rPr lang="en-US" altLang="ja-JP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r>
              <a:rPr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戻る　矢印キー</a:t>
            </a:r>
            <a:r>
              <a:rPr lang="en-US" altLang="ja-JP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r>
              <a:rPr lang="ja-JP" altLang="en-US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移動</a:t>
            </a:r>
            <a:endParaRPr lang="ja-JP" altLang="en-US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311" y="3878162"/>
            <a:ext cx="913745" cy="915085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7863581" y="3827872"/>
            <a:ext cx="3150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取ると進む向きが変わる。</a:t>
            </a:r>
            <a:endParaRPr kumimoji="1" lang="en-US" altLang="ja-JP" sz="2000" dirty="0" smtClean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  <a:p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変わらない時もある。</a:t>
            </a:r>
            <a:endParaRPr kumimoji="1" lang="en-US" altLang="ja-JP" sz="2000" dirty="0" smtClean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  <a:p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宝石</a:t>
            </a:r>
            <a:r>
              <a:rPr kumimoji="1" lang="en-US" altLang="ja-JP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3</a:t>
            </a:r>
            <a:r>
              <a:rPr kumimoji="1"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つ分の価値がある。</a:t>
            </a:r>
            <a:endParaRPr kumimoji="1" lang="en-US" altLang="ja-JP" sz="2000" dirty="0" smtClean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7433970" y="4135648"/>
            <a:ext cx="442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endParaRPr kumimoji="1" lang="en-US" altLang="ja-JP" sz="20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39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hidden="1">
            <a:extLst>
              <a:ext uri="{FF2B5EF4-FFF2-40B4-BE49-F238E27FC236}">
                <a16:creationId xmlns="" xmlns:a16="http://schemas.microsoft.com/office/drawing/2014/main" id="{08736DFA-F662-44FB-B6C9-4A35A5ED2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="" xmlns:a16="http://schemas.microsoft.com/office/drawing/2014/main" id="{AC1841D5-D77A-41C4-8C8E-BA7E05DBEC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02656E45-BA9A-4DE2-9386-18730E88A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="" xmlns:a16="http://schemas.microsoft.com/office/drawing/2014/main" id="{72EDA480-162B-4994-8C4A-1AB05D91D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40674"/>
            <a:ext cx="9144000" cy="1655762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="" xmlns:a16="http://schemas.microsoft.com/office/drawing/2014/main" id="{FD424691-1BEF-4096-8AB1-F20EB3AAB882}"/>
              </a:ext>
            </a:extLst>
          </p:cNvPr>
          <p:cNvSpPr/>
          <p:nvPr/>
        </p:nvSpPr>
        <p:spPr>
          <a:xfrm>
            <a:off x="748018" y="476513"/>
            <a:ext cx="10695962" cy="6065021"/>
          </a:xfrm>
          <a:prstGeom prst="roundRect">
            <a:avLst>
              <a:gd name="adj" fmla="val 8917"/>
            </a:avLst>
          </a:prstGeom>
          <a:solidFill>
            <a:schemeClr val="bg1"/>
          </a:solidFill>
          <a:ln w="142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1893168" y="774321"/>
            <a:ext cx="84056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「幸</a:t>
            </a:r>
            <a:r>
              <a:rPr kumimoji="1" lang="ja-JP" altLang="en-US" sz="28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」の中に隠れている「</a:t>
            </a:r>
            <a:r>
              <a:rPr kumimoji="1" lang="ja-JP" altLang="en-US" sz="28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辛</a:t>
            </a:r>
            <a:r>
              <a:rPr kumimoji="1" lang="ja-JP" altLang="en-US" sz="28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」をクリックして右上の「幸」を完成させよう。</a:t>
            </a:r>
            <a:r>
              <a:rPr lang="ja-JP" altLang="en-US" sz="28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ただし間違えると秒数がふえるぞ</a:t>
            </a:r>
            <a:r>
              <a:rPr lang="ja-JP" altLang="en-US" sz="28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。「幸」の完成度は画面右でも確認可能。</a:t>
            </a:r>
            <a:endParaRPr kumimoji="1" lang="en-US" altLang="ja-JP" sz="28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4034111" y="5768314"/>
            <a:ext cx="71269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R</a:t>
            </a:r>
            <a:r>
              <a:rPr lang="ja-JP" altLang="en-US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キー</a:t>
            </a:r>
            <a:r>
              <a:rPr lang="en-US" altLang="ja-JP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r>
              <a:rPr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戻る　スペース</a:t>
            </a:r>
            <a:r>
              <a:rPr lang="en-US" altLang="ja-JP" sz="20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 </a:t>
            </a:r>
            <a:r>
              <a:rPr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探知・爆破　 クリック</a:t>
            </a:r>
            <a:r>
              <a:rPr lang="en-US" altLang="ja-JP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…</a:t>
            </a:r>
            <a:r>
              <a:rPr lang="ja-JP" altLang="en-US" sz="20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射撃</a:t>
            </a:r>
            <a:r>
              <a:rPr lang="ja-JP" altLang="en-US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　</a:t>
            </a:r>
            <a:endParaRPr lang="ja-JP" altLang="en-US" sz="24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320"/>
          <a:stretch/>
        </p:blipFill>
        <p:spPr>
          <a:xfrm>
            <a:off x="1309748" y="2341925"/>
            <a:ext cx="2865365" cy="651170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320" b="-602"/>
          <a:stretch/>
        </p:blipFill>
        <p:spPr>
          <a:xfrm>
            <a:off x="1309748" y="4152714"/>
            <a:ext cx="2865365" cy="65509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1893168" y="3118394"/>
            <a:ext cx="7856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音で</a:t>
            </a:r>
            <a:r>
              <a:rPr lang="ja-JP" altLang="en-US" sz="28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「辛</a:t>
            </a:r>
            <a:r>
              <a:rPr lang="ja-JP" altLang="en-US" sz="28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」を教えてくれる。</a:t>
            </a:r>
            <a:endParaRPr lang="en-US" altLang="ja-JP" sz="2800" dirty="0" smtClean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  <a:p>
            <a:r>
              <a:rPr lang="ja-JP" altLang="en-US" sz="28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「辛</a:t>
            </a:r>
            <a:r>
              <a:rPr lang="ja-JP" altLang="en-US" sz="28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」に近ければ近いほど音がおおきくなるぞ。</a:t>
            </a:r>
            <a:endParaRPr kumimoji="1" lang="en-US" altLang="ja-JP" sz="28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1309748" y="4965939"/>
            <a:ext cx="4454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「</a:t>
            </a:r>
            <a:r>
              <a:rPr lang="ja-JP" altLang="en-US" sz="28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幸</a:t>
            </a:r>
            <a:r>
              <a:rPr lang="ja-JP" altLang="en-US" sz="28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」を爆破する。</a:t>
            </a:r>
            <a:endParaRPr kumimoji="1" lang="en-US" altLang="ja-JP" sz="28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4201107" y="2423577"/>
            <a:ext cx="5252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(</a:t>
            </a:r>
            <a:r>
              <a:rPr lang="ja-JP" altLang="en-US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スペースキーで</a:t>
            </a:r>
            <a:r>
              <a:rPr lang="en-US" altLang="ja-JP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3</a:t>
            </a:r>
            <a:r>
              <a:rPr lang="ja-JP" altLang="en-US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回まで使用可能</a:t>
            </a:r>
            <a:r>
              <a:rPr lang="en-US" altLang="ja-JP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)</a:t>
            </a:r>
            <a:endParaRPr kumimoji="1" lang="en-US" altLang="ja-JP" sz="24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="" xmlns:a16="http://schemas.microsoft.com/office/drawing/2014/main" id="{4BEEDE8E-89E9-43A7-A893-78B4D7205A67}"/>
              </a:ext>
            </a:extLst>
          </p:cNvPr>
          <p:cNvSpPr txBox="1"/>
          <p:nvPr/>
        </p:nvSpPr>
        <p:spPr>
          <a:xfrm>
            <a:off x="4201107" y="4284636"/>
            <a:ext cx="5252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(</a:t>
            </a:r>
            <a:r>
              <a:rPr lang="ja-JP" altLang="en-US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スペースキーで</a:t>
            </a:r>
            <a:r>
              <a:rPr lang="en-US" altLang="ja-JP" sz="24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2</a:t>
            </a:r>
            <a:r>
              <a:rPr lang="ja-JP" altLang="en-US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回まで使用可能</a:t>
            </a:r>
            <a:r>
              <a:rPr lang="en-US" altLang="ja-JP" sz="2400" dirty="0" smtClean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)</a:t>
            </a:r>
            <a:endParaRPr kumimoji="1" lang="en-US" altLang="ja-JP" sz="24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7882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5256</TotalTime>
  <Words>267</Words>
  <Application>Microsoft Office PowerPoint</Application>
  <PresentationFormat>ワイド画面</PresentationFormat>
  <Paragraphs>36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源暎ゴシックN Bold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CS 08</dc:creator>
  <cp:lastModifiedBy>Owner</cp:lastModifiedBy>
  <cp:revision>27</cp:revision>
  <dcterms:created xsi:type="dcterms:W3CDTF">2024-07-11T08:49:01Z</dcterms:created>
  <dcterms:modified xsi:type="dcterms:W3CDTF">2024-09-04T07:59:14Z</dcterms:modified>
</cp:coreProperties>
</file>